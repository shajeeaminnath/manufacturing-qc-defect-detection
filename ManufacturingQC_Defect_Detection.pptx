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Arial"/>
              </a:defRPr>
            </a:pPr>
            <a:r>
              <a:rPr sz="1100" b="0" i="0" u="none" strike="noStrike">
                <a:solidFill>
                  <a:srgbClr val="334155"/>
                </a:solidFill>
                <a:latin typeface="Arial"/>
              </a:rPr>
              <a:t>Class Distribution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Normal (~70%)</c:v>
                </c:pt>
                <c:pt idx="1">
                  <c:v>Defective (~30%)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70</c:v>
                </c:pt>
                <c:pt idx="1">
                  <c:v>30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Arial"/>
              </a:defRPr>
            </a:pPr>
            <a:r>
              <a:rPr sz="1100" b="0" i="0" u="none" strike="noStrike">
                <a:solidFill>
                  <a:srgbClr val="334155"/>
                </a:solidFill>
                <a:latin typeface="Arial"/>
              </a:rPr>
              <a:t>Accuracy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75569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ResNet-50
(fine-tuned)</c:v>
                  </c:pt>
                  <c:pt idx="1">
                    <c:v>Custom CNN</c:v>
                  </c:pt>
                  <c:pt idx="2">
                    <c:v>Autoencoder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96.2</c:v>
                </c:pt>
                <c:pt idx="1">
                  <c:v>91.4</c:v>
                </c:pt>
                <c:pt idx="2">
                  <c:v>88.7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Arial"/>
              </a:defRPr>
            </a:pPr>
            <a:r>
              <a:rPr sz="1100" b="0" i="0" u="none" strike="noStrike">
                <a:solidFill>
                  <a:srgbClr val="334155"/>
                </a:solidFill>
                <a:latin typeface="Arial"/>
              </a:rPr>
              <a:t>AUROC Score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AUROC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75569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ResNet-50
(fine-tuned)</c:v>
                  </c:pt>
                  <c:pt idx="1">
                    <c:v>Custom CNN</c:v>
                  </c:pt>
                  <c:pt idx="2">
                    <c:v>Autoencoder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0.989</c:v>
                </c:pt>
                <c:pt idx="1">
                  <c:v>0.961</c:v>
                </c:pt>
                <c:pt idx="2">
                  <c:v>0.943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548640"/>
            <a:ext cx="2926080" cy="292608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365760"/>
            <a:ext cx="1645920" cy="1645920"/>
          </a:xfrm>
          <a:prstGeom prst="ellipse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548640"/>
            <a:ext cx="292608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5486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DEEP LEARNING · COMPUTER VISION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515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Control: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11480" y="17190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Detection in Manufacturing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11480" y="2432304"/>
            <a:ext cx="5486400" cy="36576"/>
          </a:xfrm>
          <a:prstGeom prst="rect">
            <a:avLst/>
          </a:prstGeom>
          <a:solidFill>
            <a:srgbClr val="94A3B8">
              <a:alpha val="50000"/>
            </a:srgbClr>
          </a:solidFill>
          <a:ln w="12700">
            <a:solidFill>
              <a:srgbClr val="94A3B8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542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Classifier  ·  Autoencoder Anomaly Detection  ·  Grad-CAM Visualization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017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MVTec Anomaly Detection Dataset  ·  15 Categories  ·  5,000+ Images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4206240"/>
            <a:ext cx="2286000" cy="38404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42062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Shajeea Minnath A 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926080" y="4206240"/>
            <a:ext cx="2286000" cy="38404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0" y="42062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Umaparvathy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40680" y="4206240"/>
            <a:ext cx="2286000" cy="38404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40680" y="42062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Akshay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0" y="4160520"/>
            <a:ext cx="1920240" cy="45720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4160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F3D"/>
                </a:solidFill>
              </a:rPr>
              <a:t>🚀  LIVE ON STREAMLIT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828800"/>
            <a:ext cx="100584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8288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SLOW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21305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Manual inspection is time-consuming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2578608"/>
            <a:ext cx="100584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57860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INCONSISTENT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74320" y="2880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Human error leads to missed defects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3328416"/>
            <a:ext cx="100584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332841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EXPENSIVE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74320" y="36301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High labour costs for quality teams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931920" y="3657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Automated Solution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931920" y="9144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Manufacturing quality control is critical for reducing waste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and ensuring product reliability. This project automates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defect detection in product images using deep learning.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931920" y="2011680"/>
            <a:ext cx="15544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931920" y="2011680"/>
            <a:ext cx="15544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0" y="217627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</a:rPr>
              <a:t>Classify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023360" y="26517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Defective vs Non-Defective using ResNet-50 CNN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23560" y="2011680"/>
            <a:ext cx="15544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23560" y="2011680"/>
            <a:ext cx="155448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15000" y="217627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</a:rPr>
              <a:t>Localize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715000" y="26517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Defect regions with Grad-CAM heatmaps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0" y="2011680"/>
            <a:ext cx="15544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0" y="2011680"/>
            <a:ext cx="15544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06640" y="217627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</a:rPr>
              <a:t>Deploy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06640" y="26517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Real-time inspection via Streamlit interface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DATASET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4B8A6"/>
                </a:solidFill>
              </a:rPr>
              <a:t>MVTec Anomaly Detection Dataset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011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20116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7043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74320" y="17556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Categories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(Textures + Objects)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50592" y="1051560"/>
            <a:ext cx="2011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50592" y="1051560"/>
            <a:ext cx="20116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117043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5K+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450592" y="17556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Total Images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(PNG format)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26864" y="1051560"/>
            <a:ext cx="2011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26864" y="1051560"/>
            <a:ext cx="20116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26864" y="117043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70/30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626864" y="17556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Normal vs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Defective Split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03136" y="1051560"/>
            <a:ext cx="2011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03136" y="1051560"/>
            <a:ext cx="20116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03136" y="117043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224px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803136" y="17556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Input Resolution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(Resized)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4320" y="24231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</a:rPr>
              <a:t>Defect Types &amp; Properties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816352"/>
          <a:ext cx="5029200" cy="192024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Property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Detail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Format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PNG images (256×256 or 1024×1024)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Classes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Normal vs. Defective (binary per category)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Defect Types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Scratches, holes, cracks, contamination, etc.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Ground Truth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Pixel-level annotation masks included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Imbalance Handling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Class-weighted loss function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Chart 0" descr=""/>
          <p:cNvGraphicFramePr/>
          <p:nvPr/>
        </p:nvGraphicFramePr>
        <p:xfrm>
          <a:off x="5486400" y="2331720"/>
          <a:ext cx="338328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METHODOLOGY — 10-STAGE LIFE CYCLE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Problem Definition &amp; Literature Review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37490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490472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4904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149047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Data Collection &amp; Understanding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1901952"/>
            <a:ext cx="37490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1929384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19293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1929384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Data Preprocessing &amp; Cleaning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2340864"/>
            <a:ext cx="37490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2368296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3682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2368296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Exploratory Data Analysis (EDA)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2779776"/>
            <a:ext cx="37490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2807208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28072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2807208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Feature Engineering &amp; Selection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1051560"/>
            <a:ext cx="411480" cy="411480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57800" y="105156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Model Building &amp; Training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257800" y="1463040"/>
            <a:ext cx="37490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1490472"/>
            <a:ext cx="411480" cy="411480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14904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57800" y="149047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Model Evaluation &amp; Comparison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257800" y="1901952"/>
            <a:ext cx="37490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1929384"/>
            <a:ext cx="411480" cy="411480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19293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57800" y="1929384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Model Interpretation &amp; Explainability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257800" y="2340864"/>
            <a:ext cx="37490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2368296"/>
            <a:ext cx="411480" cy="411480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23682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9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57800" y="2368296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Deployment (Streamlit)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257800" y="2779776"/>
            <a:ext cx="37490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2807208"/>
            <a:ext cx="411480" cy="411480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28072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257800" y="2807208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Documentation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0" y="1051560"/>
            <a:ext cx="27432" cy="38404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MODEL ARCHITECTURE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91840" y="914400"/>
            <a:ext cx="256032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91840" y="9144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Raw Image (224×224)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90288" y="1536192"/>
            <a:ext cx="0" cy="347472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  <a:tailEnd type="arrow"/>
          </a:ln>
        </p:spPr>
      </p:sp>
      <p:sp>
        <p:nvSpPr>
          <p:cNvPr id="7" name="Shape 5"/>
          <p:cNvSpPr/>
          <p:nvPr/>
        </p:nvSpPr>
        <p:spPr>
          <a:xfrm>
            <a:off x="548640" y="1920240"/>
            <a:ext cx="347472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920240"/>
            <a:ext cx="3474720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ResNet-50 Classifier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229307"/>
            <a:ext cx="347472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FFFF"/>
                </a:solidFill>
              </a:rPr>
              <a:t>Fine-tuned on MVTec AD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029200" y="1920240"/>
            <a:ext cx="3474720" cy="594360"/>
          </a:xfrm>
          <a:prstGeom prst="rect">
            <a:avLst/>
          </a:prstGeom>
          <a:solidFill>
            <a:srgbClr val="0F766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0" y="1920240"/>
            <a:ext cx="3474720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Convolutional Autoencoder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2229307"/>
            <a:ext cx="347472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FFFF"/>
                </a:solidFill>
              </a:rPr>
              <a:t>Anomaly score via reconstruction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304288" y="2542032"/>
            <a:ext cx="0" cy="347472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6784848" y="2542032"/>
            <a:ext cx="0" cy="347472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548640" y="2907792"/>
            <a:ext cx="3474720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2907792"/>
            <a:ext cx="3474720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Defect / Normal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216859"/>
            <a:ext cx="347472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FFFF"/>
                </a:solidFill>
              </a:rPr>
              <a:t>+ Confidence Score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29200" y="2907792"/>
            <a:ext cx="3474720" cy="594360"/>
          </a:xfrm>
          <a:prstGeom prst="rect">
            <a:avLst/>
          </a:prstGeom>
          <a:solidFill>
            <a:srgbClr val="0F766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0" y="2907792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Reconstruction Error Score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304288" y="3529584"/>
            <a:ext cx="0" cy="347472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548640" y="3877056"/>
            <a:ext cx="3474720" cy="594360"/>
          </a:xfrm>
          <a:prstGeom prst="rect">
            <a:avLst/>
          </a:prstGeom>
          <a:solidFill>
            <a:srgbClr val="B45309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3877056"/>
            <a:ext cx="3474720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Grad-CAM Heatmap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4186123"/>
            <a:ext cx="347472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FFFF"/>
                </a:solidFill>
              </a:rPr>
              <a:t>Defect localization overlay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023360" y="4178808"/>
            <a:ext cx="109728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5029200" y="3877056"/>
            <a:ext cx="3474720" cy="594360"/>
          </a:xfrm>
          <a:prstGeom prst="rect">
            <a:avLst/>
          </a:prstGeom>
          <a:solidFill>
            <a:srgbClr val="1D4ED8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0" y="3877056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Streamlit UI → User Decision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RESULTS &amp; MODEL COMPARISON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64008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F3D"/>
                </a:solidFill>
              </a:rPr>
              <a:t>🏆  Best Model: ResNet-50 (Fine-tuned)  —  96.2% Accuracy  ·  AUROC 0.989  ·  Grad-CAM IoU 0.72 vs Ground Truth</a:t>
            </a:r>
            <a:endParaRPr lang="en-US" sz="11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783080"/>
          <a:ext cx="40233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4572000" y="1783080"/>
          <a:ext cx="42062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KEY FEATURES &amp; EXPLAINABILITY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788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27889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207008"/>
            <a:ext cx="2459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</a:rPr>
              <a:t>Grad-CAM Visualization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8912" y="1874520"/>
            <a:ext cx="245973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Heatmaps highlight defect regions on raw images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IoU of 0.72 against ground truth masks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Helps inspectors trust and verify AI decisions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23260" y="1051560"/>
            <a:ext cx="2788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23260" y="1051560"/>
            <a:ext cx="278892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7852" y="1207008"/>
            <a:ext cx="2459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</a:rPr>
              <a:t>Autoencoder Anomaly Score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7852" y="1874520"/>
            <a:ext cx="245973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Reconstruction error flags unseen defect types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Works without labelled anomaly examples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SSIM-based structural difference features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72200" y="1051560"/>
            <a:ext cx="2788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1051560"/>
            <a:ext cx="2788920" cy="640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6792" y="1207008"/>
            <a:ext cx="2459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</a:rPr>
              <a:t>Transfer Learning (ResNet-50)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36792" y="1874520"/>
            <a:ext cx="245973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Pretrained on ImageNet for rich feature extraction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Fine-tuned end-to-end on MVTec AD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96.2% accuracy with AUROC 0.989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DEPLOYMENT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8412480" cy="73152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B8A6"/>
                </a:solidFill>
              </a:rPr>
              <a:t>🌐  Live URL: manufacturing-qc-defect-detection-jdr3x3phepsh2adnjxee3s.streamlit.app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4320" y="1874520"/>
            <a:ext cx="4114800" cy="123444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9842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19659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Image Upload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231343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Upload any manufacturing image for instant CNN classification with confidence score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1874520"/>
            <a:ext cx="4114800" cy="123444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19842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94960" y="19659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Anomaly Score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94960" y="231343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Autoencoder reconstruction error gives a second independent defect signal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291840"/>
            <a:ext cx="4114800" cy="123444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4015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60120" y="33832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Grad-CAM Heatmap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373075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Visual overlay of defect regions on the original image for explainable inspection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09160" y="3291840"/>
            <a:ext cx="4114800" cy="123444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34015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394960" y="33832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Batch CSV Mode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94960" y="373075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Industrial-scale batch upload and processing for production-line workflows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TEAM MEMBERS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0160" y="1325880"/>
            <a:ext cx="914400" cy="9144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325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F3D"/>
                </a:solidFill>
              </a:rPr>
              <a:t>Shajeea Minnath A 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" y="2944368"/>
            <a:ext cx="2231136" cy="27432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944368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Problem Definition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21792" y="3282696"/>
            <a:ext cx="2231136" cy="27432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3282696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Exploratory Data Analysis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" y="3621024"/>
            <a:ext cx="2231136" cy="27432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621024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Data Collection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" y="3959352"/>
            <a:ext cx="2231136" cy="27432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95935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Documentation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0" y="1097280"/>
            <a:ext cx="25603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023360" y="1325880"/>
            <a:ext cx="914400" cy="9144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0" y="1325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UP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291840" y="2377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F3D"/>
                </a:solidFill>
              </a:rPr>
              <a:t>Umaparvathy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364992" y="2944368"/>
            <a:ext cx="2231136" cy="274320"/>
          </a:xfrm>
          <a:prstGeom prst="rect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64992" y="2944368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Data Preprocessing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64992" y="3282696"/>
            <a:ext cx="2231136" cy="274320"/>
          </a:xfrm>
          <a:prstGeom prst="rect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64992" y="3282696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Feature Engineering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64992" y="3621024"/>
            <a:ext cx="2231136" cy="274320"/>
          </a:xfrm>
          <a:prstGeom prst="rect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64992" y="3621024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CNN Model Building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64992" y="3959352"/>
            <a:ext cx="2231136" cy="274320"/>
          </a:xfrm>
          <a:prstGeom prst="rect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64992" y="395935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Data Augmentation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943600" y="1097280"/>
            <a:ext cx="25603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766560" y="1325880"/>
            <a:ext cx="914400" cy="9144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0" y="1325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AK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035040" y="2377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F3D"/>
                </a:solidFill>
              </a:rPr>
              <a:t>Akshay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108192" y="2944368"/>
            <a:ext cx="2231136" cy="274320"/>
          </a:xfrm>
          <a:prstGeom prst="rect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1D4ED8">
                <a:alpha val="3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08192" y="2944368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Model Evaluation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08192" y="3282696"/>
            <a:ext cx="2231136" cy="274320"/>
          </a:xfrm>
          <a:prstGeom prst="rect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1D4ED8">
                <a:alpha val="3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08192" y="3282696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Autoencoder Development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08192" y="3621024"/>
            <a:ext cx="2231136" cy="274320"/>
          </a:xfrm>
          <a:prstGeom prst="rect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1D4ED8">
                <a:alpha val="3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08192" y="3621024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Grad-CAM Implementation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08192" y="3959352"/>
            <a:ext cx="2231136" cy="274320"/>
          </a:xfrm>
          <a:prstGeom prst="rect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1D4ED8">
                <a:alpha val="3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08192" y="395935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Streamlit Deployment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14B8A6">
              <a:alpha val="10000"/>
            </a:srgbClr>
          </a:solidFill>
          <a:ln w="12700">
            <a:solidFill>
              <a:srgbClr val="14B8A6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0"/>
            <a:ext cx="82296" cy="4114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572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B8A6"/>
                </a:solidFill>
              </a:rPr>
              <a:t>Quality Control · Defect Detection · Deep Learning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28600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19456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</a:rPr>
              <a:t>96.2% accuracy with fine-tuned ResNet-50 on MVTec AD dataset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" y="274320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65176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</a:rPr>
              <a:t>Dual approach: CNN classifier + Autoencoder anomaly detection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" y="320040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10896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</a:rPr>
              <a:t>Explainable AI via Grad-CAM heatmaps (IoU 0.72 vs ground truth)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" y="365760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56616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</a:rPr>
              <a:t>Production-ready Streamlit app deployed live on Community Cloud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Dataset: MVTec AD — mvtec.com/company/research/datasets/mvtec-ad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Quality Control: Defect Detection in Manufacturing</dc:title>
  <dc:subject>PptxGenJS Presentation</dc:subject>
  <dc:creator>QC Team</dc:creator>
  <cp:lastModifiedBy>QC Team</cp:lastModifiedBy>
  <cp:revision>1</cp:revision>
  <dcterms:created xsi:type="dcterms:W3CDTF">2026-05-16T07:12:40Z</dcterms:created>
  <dcterms:modified xsi:type="dcterms:W3CDTF">2026-05-16T07:12:40Z</dcterms:modified>
</cp:coreProperties>
</file>